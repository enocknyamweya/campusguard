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10"/>
  </p:normalViewPr>
  <p:slideViewPr>
    <p:cSldViewPr snapToGrid="0" snapToObjects="1">
      <p:cViewPr varScale="1">
        <p:scale>
          <a:sx n="210" d="100"/>
          <a:sy n="210" d="100"/>
        </p:scale>
        <p:origin x="35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234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Say plainly: "Everything you see runs inside Docker, not on our laptops." Type docker compose up --build. While it builds, explain in your own words: this pulls an Ubuntu 22.04 image, installs the compiler and tools, and uses our Makefile to compile every C++ file with the C++11 standard. Then explain the two stories in plain language: "Story 1 shows an operator using one high-level command, the Facade, to handle a chemical spill. Story 2 shows the same building blocks being used directly, without the Facade, during a fire." Mention we will come back to this same container later for GDB and Valgrind, so we only build once.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Do not read the table cell by cell. Explain the idea behind each pattern in one sentence before pointing at the row. Command: "An action, like locking a door, is turned into an object so it can be stored, executed later, and undone." Mediator: "Instead of every response team knowing about every other team, they all talk through one central coordinator." Adapter: "Our old hardware speaks a different language to our new code, so this class translates between them." Facade: "One simple method call that runs several steps behind the scenes." Then explain the two we chose ourselves and why, in plain terms: Strategy lets us swap out an emergency tactic without rewriting other code, and State stops the incident from being resolved before it has actually been dealt with.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Walk through this slowly, one arrow at a time, pointing at each box. "The operator asks the console to dispatch the medical team. The console does not know what dispatching actually means, it just calls execute on whatever command it was given, that is the whole point of the pattern, the console is generic." Then: "The command then calls dispatchResponders on the incident. The incident does not decide this itself, it asks its current state whether that move is allowed." Finally: "Because it succeeded, the console keeps this command in a list, so it can be undone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Explain the problem first, then the solution. "Imagine the fire team had to personally know about security, medical, and facilities, and call each one when there is a fire. Now imagine adding a fifth team. Every existing team would need new code." Then walk the actual flow: "The fire unit only ever says one thing: there is a fire, here. It does not say who should respond. The mediator hears that and decides: security should cordon off the area, and facilities should isolate the HVAC system." End with: "That decision, who reacts to what, is coordination logic, and coordination logic is exactly what the mediator pattern exists to hold in one place."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Frame it as a translation problem before showing any code. "Our new code wants to say things like: lock this zone, using a plain name like Chemistry Building. But the actual physical turnstile hardware on campus is old. It only understands a number for the sector and a flag, either 0 or 1." Point at each box: "So we wrote one class in between. It takes the zone name, turns it into a number the old hardware understands, sends the request, and translates the answer back into a simple true or false." Close with why this matters: "Nothing else in our system, not the commands, not the strategies, not the mediator, ever has to know the old hardware exists."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Say the everyday version first: "Instead of the operator having to remember four separate steps in the right order, they call one method: handle the chemical spill." Then reveal what actually happens: locking the perimeter, dispatching the incident, running the lockdown tactic, and notifying every team. Then the important second half: "But we did not lock those four steps away. In Story 2, the fire story, we call the console, the doors, and the strategy directly, without going through the Facade at all. So the Facade is a shortcut for common cases, not the only way 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Give the tempting-but-wrong option first. "At first it looks like every emergency tactic does the same two things in the same order: touch the doors, then tell the mediator. That would suggest a simpler base class where the order is fixed for everyone." Then the counter-example, said slowly: "But imagine an active shooter situation. There, alerting people has to happen before anything to do with doors. If we had locked in a fixed order for every tactic, that situation literally could not be represented." Then land the benefit: "Because each tactic controls its own order completely, we can add a brand new emergency response later without changing a single line of existing code."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Keep this concrete and physical. "Whoever creates a command with new also hands it to the console, and from that point the console is responsible for deleting it, whether it fails immediately, gets undone later, or the program simply ends." Then the trickier one: "An incident owns its own current stage. The tricky part is, a stage sometimes has to replace itself while it is still running. We do not delete a stage while it is still in the middle of running its own code, we wait until it finishes, and only then swap it out safely." Finish simply: "Everything else, the mediator, the door system, the strategies, is just being borrowed. Whoever created it on the stack in main is the one who cleans it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Say this framing first: "A tutor might point at a specific arrow on our sequence diagram and ask, show me exactly where this happens in the code. Here is how we would answer that, for the chemical spill story." Then go down the table, and for at least the first two rows, actually open the file and show the matching line, so it is not just a slide claim.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Explain what each tool is actually checking, in plain terms, before showing the numbers. "Valgrind checks that everything we created with new was properly deleted. Here it says forty-one allocations, forty-one frees, zero left in use, zero errors, which means nothing leaked." Then GDB: "This is not about finding a bug for its own sake, it is proof we can pause the program mid-run and inspect it. Here we stopped at the very start, stepped forward line by line, and watched the legacy hardware object actually get constructed."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Keep this short and honest. "We split the six patterns by area, not evenly by file count. Each person built their area on its own branch, and we merged through pull requests rather than copying files around, so our GitHub history actually shows the work happening over time, not just at the end." Finish with: "All three of us can explain any part of this system, not just our own piece, because we reviewed each other's pull requests before merging."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1. Starting the demo in Docker</a:t>
            </a:r>
            <a:endParaRPr lang="en-US" sz="2500" dirty="0"/>
          </a:p>
        </p:txBody>
      </p:sp>
      <p:sp>
        <p:nvSpPr>
          <p:cNvPr id="4" name="Text 1"/>
          <p:cNvSpPr txBox="1"/>
          <p:nvPr/>
        </p:nvSpPr>
        <p:spPr>
          <a:xfrm>
            <a:off x="457200" y="1051560"/>
            <a:ext cx="8229600" cy="338328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We run the whole system inside a Docker container</a:t>
            </a:r>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command docker compose up --build tells Docker to build an Ubuntu 22.04 image, install the compiler and debugging tools, and then run our Makefile.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Makefile compiles every .cpp file with the -std=c++11 flag, which the practical requires.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Once it is built, the program runs two stories one after another: a chemical spill and a fire.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We reuse this same container later for GDB and Valgrind, so we only build the image once.</a:t>
            </a:r>
            <a:endParaRPr lang="en-US" sz="1400" dirty="0"/>
          </a:p>
        </p:txBody>
      </p:sp>
      <p:sp>
        <p:nvSpPr>
          <p:cNvPr id="5" name="Shape 2"/>
          <p:cNvSpPr/>
          <p:nvPr/>
        </p:nvSpPr>
        <p:spPr>
          <a:xfrm>
            <a:off x="343468" y="3222976"/>
            <a:ext cx="8229600" cy="502920"/>
          </a:xfrm>
          <a:prstGeom prst="roundRect">
            <a:avLst>
              <a:gd name="adj" fmla="val 14545"/>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457200" y="3169807"/>
            <a:ext cx="78638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one command that starts everything</a:t>
            </a:r>
            <a:endParaRPr lang="en-US" sz="1100" dirty="0"/>
          </a:p>
        </p:txBody>
      </p:sp>
      <p:sp>
        <p:nvSpPr>
          <p:cNvPr id="7" name="Text 4"/>
          <p:cNvSpPr txBox="1"/>
          <p:nvPr/>
        </p:nvSpPr>
        <p:spPr>
          <a:xfrm>
            <a:off x="526348" y="3504745"/>
            <a:ext cx="7863840" cy="0"/>
          </a:xfrm>
          <a:prstGeom prst="rect">
            <a:avLst/>
          </a:prstGeom>
          <a:noFill/>
          <a:ln/>
        </p:spPr>
        <p:txBody>
          <a:bodyPr wrap="square" lIns="0" tIns="0" rIns="0" bIns="0" rtlCol="0" anchor="t"/>
          <a:lstStyle/>
          <a:p>
            <a:pPr marL="0" indent="0">
              <a:spcAft>
                <a:spcPts val="500"/>
              </a:spcAft>
              <a:buNone/>
            </a:pPr>
            <a:r>
              <a:rPr lang="en-US" sz="1300" dirty="0">
                <a:solidFill>
                  <a:srgbClr val="1F2A44"/>
                </a:solidFill>
                <a:latin typeface="Consolas" pitchFamily="34" charset="0"/>
                <a:ea typeface="Consolas" pitchFamily="34" charset="-122"/>
                <a:cs typeface="Consolas" pitchFamily="34" charset="-120"/>
              </a:rPr>
              <a:t>docker compose up --build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2. The six patterns and their roles</a:t>
            </a:r>
            <a:endParaRPr lang="en-US" sz="2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401568"/>
        </p:xfrm>
        <a:graphic>
          <a:graphicData uri="http://schemas.openxmlformats.org/drawingml/2006/table">
            <a:tbl>
              <a:tblPr/>
              <a:tblGrid>
                <a:gridCol w="210312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 in plain terms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An action like "lock this door" or "dispatch this unit" is turned into its own object, so it can be queued, executed, and undone later.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Mediator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Response teams do not talk to each other directly. They all report to one coordinator, which decides who else needs to know.</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Adapter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Our old campus hardware expects numbers and bit flags. This class translates our simple, readable calls into that old format.</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Facade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One easy method call that quietly performs several steps behind the scenes, so the operator does not have to do them by hand.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Strategy (our choice)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An emergency tactic, like "evacuate" or "lock down", can be swapped out at runtime without changing any other class.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State (our choice)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An incident is only allowed to move through its stages in the correct order; skipping a stage is rejected automatically.</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3. Following one command from click to result</a:t>
            </a:r>
            <a:endParaRPr lang="en-US" sz="2500" dirty="0"/>
          </a:p>
        </p:txBody>
      </p:sp>
      <p:sp>
        <p:nvSpPr>
          <p:cNvPr id="4" name="Text 1"/>
          <p:cNvSpPr txBox="1"/>
          <p:nvPr/>
        </p:nvSpPr>
        <p:spPr>
          <a:xfrm>
            <a:off x="457200" y="1051560"/>
            <a:ext cx="4114800" cy="3474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operator, through our main program, creates one DispatchUnitCommand and hands it to the OperatorConsole.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console is the invoker: it never knows what a command actually does. It just calls execute() on whatever object it is given.</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Executing this particular command tells the Incident to dispatch its responders. This is the receiver, the object that actually does the work.</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Incident does not decide this on its own; it asks its current lifecycle stage whether the move is allowed, and only changes stage if it is.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Because the command succeeded, the console stores it in its history, which is what makes the later undo possible.</a:t>
            </a:r>
            <a:endParaRPr lang="en-US" sz="1400" dirty="0"/>
          </a:p>
        </p:txBody>
      </p:sp>
      <p:sp>
        <p:nvSpPr>
          <p:cNvPr id="5" name="Shape 2"/>
          <p:cNvSpPr/>
          <p:nvPr/>
        </p:nvSpPr>
        <p:spPr>
          <a:xfrm>
            <a:off x="4709160" y="1051560"/>
            <a:ext cx="3977640" cy="3474720"/>
          </a:xfrm>
          <a:prstGeom prst="roundRect">
            <a:avLst>
              <a:gd name="adj" fmla="val 2105"/>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4892040" y="1143000"/>
            <a:ext cx="361188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path this one command takes</a:t>
            </a:r>
            <a:endParaRPr lang="en-US" sz="1100" dirty="0"/>
          </a:p>
        </p:txBody>
      </p:sp>
      <p:sp>
        <p:nvSpPr>
          <p:cNvPr id="7" name="Text 4"/>
          <p:cNvSpPr txBox="1"/>
          <p:nvPr/>
        </p:nvSpPr>
        <p:spPr>
          <a:xfrm>
            <a:off x="4892040" y="1463040"/>
            <a:ext cx="3611880" cy="2926080"/>
          </a:xfrm>
          <a:prstGeom prst="rect">
            <a:avLst/>
          </a:prstGeom>
          <a:noFill/>
          <a:ln/>
        </p:spPr>
        <p:txBody>
          <a:bodyPr wrap="square" lIns="0" tIns="0" rIns="0" bIns="0" rtlCol="0" anchor="t"/>
          <a:lstStyle/>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1. Operator gives console a command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console.executeCommand(cmd)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2. Console calls the command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cmd-&gt;execute()</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3. Command tells the receiver what to do</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incident-&gt;dispatchResponders()</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4. Incident asks its current stage</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currentState-&gt;handleDispatch(this)</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5. Stage change is accepted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incident becomes "Dispatched"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6. Console remembers this command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history.push_back(cmd)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4. Why this decision belongs to the Mediator, not a team</a:t>
            </a:r>
            <a:endParaRPr lang="en-US" sz="2500" dirty="0"/>
          </a:p>
        </p:txBody>
      </p:sp>
      <p:sp>
        <p:nvSpPr>
          <p:cNvPr id="4" name="Text 1"/>
          <p:cNvSpPr txBox="1"/>
          <p:nvPr/>
        </p:nvSpPr>
        <p:spPr>
          <a:xfrm>
            <a:off x="457200" y="1051560"/>
            <a:ext cx="8229600" cy="34290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fire response unit does one small thing: it reports that there is a fire at a location. It has no idea which other teams exist.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It never contacts security or facilities directly. It sends one simple message to the mediator and lets the mediator decide what happens next.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mediator receives that message and decides: security should cordon off the zone, and facilities should isolate the HVAC system there.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decision, deciding which teams need to react and in what order, is coordination logic. It does not belong inside any one team.</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If we put that logic inside the fire unit instead, every team would need to know about every other team, and adding a new team would mean changing existing code.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Keeping it in the mediator means a new response team can be added with one line of registration code and nothing else changes.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5. The Adapter: two systems that speak differently</a:t>
            </a:r>
            <a:endParaRPr lang="en-US" sz="2500" dirty="0"/>
          </a:p>
        </p:txBody>
      </p:sp>
      <p:sp>
        <p:nvSpPr>
          <p:cNvPr id="4" name="Text 1"/>
          <p:cNvSpPr txBox="1"/>
          <p:nvPr/>
        </p:nvSpPr>
        <p:spPr>
          <a:xfrm>
            <a:off x="457200" y="1051560"/>
            <a:ext cx="8229600" cy="19202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Our own code wants to work with simple, readable requests: lock this zone, using a plain name like "Chemistry Building".</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existing physical hardware on campus is much older, and cannot be changed. It only understands a numeric sector code and a lock flag of 0 or 1.</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We wrote one class that sits between the two: it turns the zone name into a sector number, sends the request in the old format, and turns the numeric answer back into a simple true or false.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Because of this, every other class in our system, the commands, the strategies, the mediator, only ever talks to the simple, modern interface, and never touches the old hardware directly.</a:t>
            </a:r>
            <a:endParaRPr lang="en-US" sz="1400" dirty="0"/>
          </a:p>
        </p:txBody>
      </p:sp>
      <p:sp>
        <p:nvSpPr>
          <p:cNvPr id="5" name="Shape 2"/>
          <p:cNvSpPr/>
          <p:nvPr/>
        </p:nvSpPr>
        <p:spPr>
          <a:xfrm>
            <a:off x="457200" y="3200400"/>
            <a:ext cx="3931920" cy="1691640"/>
          </a:xfrm>
          <a:prstGeom prst="roundRect">
            <a:avLst>
              <a:gd name="adj" fmla="val 4324"/>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640080" y="3200400"/>
            <a:ext cx="356616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mismatch</a:t>
            </a:r>
            <a:endParaRPr lang="en-US" sz="1100" dirty="0"/>
          </a:p>
        </p:txBody>
      </p:sp>
      <p:sp>
        <p:nvSpPr>
          <p:cNvPr id="7" name="Text 4"/>
          <p:cNvSpPr txBox="1"/>
          <p:nvPr/>
        </p:nvSpPr>
        <p:spPr>
          <a:xfrm>
            <a:off x="640080" y="3520440"/>
            <a:ext cx="3566160" cy="1143000"/>
          </a:xfrm>
          <a:prstGeom prst="rect">
            <a:avLst/>
          </a:prstGeom>
          <a:noFill/>
          <a:ln/>
        </p:spPr>
        <p:txBody>
          <a:bodyPr wrap="square" lIns="0" tIns="0" rIns="0" bIns="0" rtlCol="0" anchor="t"/>
          <a:lstStyle/>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What we want to call:</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lockZone("Chemistry Building")</a:t>
            </a:r>
            <a:endParaRPr lang="en-US" sz="1200" dirty="0"/>
          </a:p>
          <a:p>
            <a:pPr marL="0" indent="0">
              <a:spcAft>
                <a:spcPts val="500"/>
              </a:spcAft>
              <a:buNone/>
            </a:pP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What the old hardware actually needs:</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raw_set_barrier(sectorNumber, 1)</a:t>
            </a:r>
            <a:endParaRPr lang="en-US" sz="1200" dirty="0"/>
          </a:p>
        </p:txBody>
      </p:sp>
      <p:sp>
        <p:nvSpPr>
          <p:cNvPr id="8" name="Shape 5"/>
          <p:cNvSpPr/>
          <p:nvPr/>
        </p:nvSpPr>
        <p:spPr>
          <a:xfrm>
            <a:off x="4617720" y="3177540"/>
            <a:ext cx="4069080" cy="1691640"/>
          </a:xfrm>
          <a:prstGeom prst="roundRect">
            <a:avLst>
              <a:gd name="adj" fmla="val 4324"/>
            </a:avLst>
          </a:prstGeom>
          <a:solidFill>
            <a:srgbClr val="EEF3F8"/>
          </a:solidFill>
          <a:ln w="12700">
            <a:solidFill>
              <a:srgbClr val="EEF3F8"/>
            </a:solidFill>
            <a:prstDash val="solid"/>
          </a:ln>
        </p:spPr>
        <p:txBody>
          <a:bodyPr/>
          <a:lstStyle/>
          <a:p>
            <a:endParaRPr lang="en-US"/>
          </a:p>
        </p:txBody>
      </p:sp>
      <p:sp>
        <p:nvSpPr>
          <p:cNvPr id="9" name="Text 6"/>
          <p:cNvSpPr txBox="1"/>
          <p:nvPr/>
        </p:nvSpPr>
        <p:spPr>
          <a:xfrm>
            <a:off x="4800600" y="3200400"/>
            <a:ext cx="370332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What the Adapter does in between</a:t>
            </a:r>
            <a:endParaRPr lang="en-US" sz="1100" dirty="0"/>
          </a:p>
        </p:txBody>
      </p:sp>
      <p:sp>
        <p:nvSpPr>
          <p:cNvPr id="10" name="Text 7"/>
          <p:cNvSpPr txBox="1"/>
          <p:nvPr/>
        </p:nvSpPr>
        <p:spPr>
          <a:xfrm>
            <a:off x="4800600" y="3520440"/>
            <a:ext cx="3703320" cy="1143000"/>
          </a:xfrm>
          <a:prstGeom prst="rect">
            <a:avLst/>
          </a:prstGeom>
          <a:noFill/>
          <a:ln/>
        </p:spPr>
        <p:txBody>
          <a:bodyPr wrap="square" lIns="0" tIns="0" rIns="0" bIns="0" rtlCol="0" anchor="t"/>
          <a:lstStyle/>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Translates the name into a number:</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sector = hash("Chemistry Building")</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Then calls the old hardware:</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raw_set_barrier(sector, 1)</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Turns the numeric result back into true/false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6. What the Facade hides, and what still works on its own</a:t>
            </a:r>
            <a:endParaRPr lang="en-US" sz="2500" dirty="0"/>
          </a:p>
        </p:txBody>
      </p:sp>
      <p:sp>
        <p:nvSpPr>
          <p:cNvPr id="4" name="Text 1"/>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Instead of the operator carrying out several separate steps in exactly the right order, they call one method: handle this chemical spill, at this location.</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Behind that single call, four things actually happen: the perimeter gets locked, the incident is marked as dispatched, the lockdown tactic runs, and every response team is notified through the mediator.</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is the complexity the Facade is hiding: the operator does not need to know any of those four steps exist.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Those same underlying pieces are never locked away. In our fire story, we call the console, the door system, and the strategy directly, completely bypassing the Facade.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So the Facade is a convenient shortcut for the common cases, not the only way into the system.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7. Why we chose Strategy over a simpler approach</a:t>
            </a:r>
            <a:endParaRPr lang="en-US" sz="2500" dirty="0"/>
          </a:p>
        </p:txBody>
      </p:sp>
      <p:sp>
        <p:nvSpPr>
          <p:cNvPr id="4" name="Text 1"/>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Our two current tactics, evacuation and lockdown, both happen to do the same two things in the same order: they touch the doors first, then tell the mediator.</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similarity is tempting: it suggests forcing every tactic to follow one fixed order, doors first, mediator second, defined once in a shared base class.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But a future tactic, like an active-shooter response, might need to alert everyone first and never touch the doors at all. A fixed shared order could not represent that.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Because we chose Strategy instead, each tactic is handed the tools it needs and decides its own order completely.</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means a brand-new emergency tactic can be added later without changing any of our existing classes at all.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8. Who owns what, and when it gets destroyed</a:t>
            </a:r>
            <a:endParaRPr lang="en-US" sz="2500" dirty="0"/>
          </a:p>
        </p:txBody>
      </p:sp>
      <p:sp>
        <p:nvSpPr>
          <p:cNvPr id="4" name="Text 1"/>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Whenever we create a command with new, we immediately hand it to the OperatorConsole. From that point on, the console is responsible for deleting it, whether it fails right away, gets undone later, or the program simply ends.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An Incident owns its own current lifecycle stage. The tricky part: a stage object sometimes needs to replace itself while it is still in the middle of running.</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To make that safe, we never delete a stage object while it is still running its own code. We wait until it finishes, and only then swap the old stage out for the new one.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Everything else, the mediator, the door system, the strategies, is only ever borrowed by the objects that use it. Whoever created it in main is the one that cleans it up when the program ends.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Every class that can be used polymorphically has a virtual destructor, so deleting through a base pointer always cleans up correctly.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9. Matching our diagrams to our actual code</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816352"/>
        </p:xfrm>
        <a:graphic>
          <a:graphicData uri="http://schemas.openxmlformats.org/drawingml/2006/table">
            <a:tbl>
              <a:tblPr/>
              <a:tblGrid>
                <a:gridCol w="4572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Arrow on the sequence diagram</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actually happens in our code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Operator calls the chemical spill protocol</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CampusEmergencyFacade.cpp, handleChemicalSpillProtocol</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Console is asked to run the command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OperatorConsole::executeCommand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Command is executed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ApplyStrategyCommand::execute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Incident is told to dispatch responders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Incident::dispatchResponders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chosen tactic actually runs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LockdownContainmentStrategy::executeTactic</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zone gets locked through the adapter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TurnstileAdapter::lockZone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Every team is notified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CentralDispatchMediator::notify</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10. Proving there are no memory leaks and no crashes</a:t>
            </a:r>
            <a:endParaRPr lang="en-US" sz="2500" dirty="0"/>
          </a:p>
        </p:txBody>
      </p:sp>
      <p:sp>
        <p:nvSpPr>
          <p:cNvPr id="4" name="Text 1"/>
          <p:cNvSpPr txBox="1"/>
          <p:nvPr/>
        </p:nvSpPr>
        <p:spPr>
          <a:xfrm>
            <a:off x="457200" y="1051560"/>
            <a:ext cx="8229600" cy="2377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Valgrind checks that every object we created with new was correctly deleted, with nothing left over when the program ends.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Our run shows 41 allocations and 41 frees, 0 bytes still in use, and 0 errors, meaning nothing leaked.</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A second, longer test suite runs 55 checks through the full state and mediator flow, and also finishes with 0 errors.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GDB lets us pause the running program and look inside it. We set a breakpoint at the very start of main, and stepped forward one line at a time.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Stepping in this way let us watch the legacy turnstile hardware object actually being constructed, confirming our startup order is correct.</a:t>
            </a:r>
            <a:endParaRPr lang="en-US" sz="1400" dirty="0"/>
          </a:p>
        </p:txBody>
      </p:sp>
      <p:sp>
        <p:nvSpPr>
          <p:cNvPr id="5" name="Shape 2"/>
          <p:cNvSpPr/>
          <p:nvPr/>
        </p:nvSpPr>
        <p:spPr>
          <a:xfrm>
            <a:off x="457200" y="3566160"/>
            <a:ext cx="8229600" cy="777240"/>
          </a:xfrm>
          <a:prstGeom prst="roundRect">
            <a:avLst>
              <a:gd name="adj" fmla="val 9412"/>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640080" y="3657600"/>
            <a:ext cx="78638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two headline results to say out loud</a:t>
            </a:r>
            <a:endParaRPr lang="en-US" sz="1100" dirty="0"/>
          </a:p>
        </p:txBody>
      </p:sp>
      <p:sp>
        <p:nvSpPr>
          <p:cNvPr id="7" name="Text 4"/>
          <p:cNvSpPr txBox="1"/>
          <p:nvPr/>
        </p:nvSpPr>
        <p:spPr>
          <a:xfrm>
            <a:off x="640080" y="3977640"/>
            <a:ext cx="7863840" cy="228600"/>
          </a:xfrm>
          <a:prstGeom prst="rect">
            <a:avLst/>
          </a:prstGeom>
          <a:noFill/>
          <a:ln/>
        </p:spPr>
        <p:txBody>
          <a:bodyPr wrap="square" lIns="0" tIns="0" rIns="0" bIns="0" rtlCol="0" anchor="t"/>
          <a:lstStyle/>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Valgrind: 41 allocs, 41 frees, 0 bytes in use, 0 errors</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GDB:    break main -&gt; run -&gt; next -&gt; step  (watches construction)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11. How the three of us split and combined the work</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972056"/>
        </p:xfrm>
        <a:graphic>
          <a:graphicData uri="http://schemas.openxmlformats.org/drawingml/2006/table">
            <a:tbl>
              <a:tblPr/>
              <a:tblGrid>
                <a:gridCol w="210312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Team member</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they were responsible for</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Enock Nyamweya</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Command pattern and Strategy pattern, plus Docker, GDB and Valgrind setup, and the Facade/Command sequence diagram</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Kyle Pillay</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Mediator, Facade and Adapter, plus the mediator sequence diagram and the early test drivers</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Terrence Hluyo</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The incident lifecycle and State pattern, including the cancel logic, and the state machine diagram</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p:cNvSpPr txBox="1"/>
          <p:nvPr/>
        </p:nvSpPr>
        <p:spPr>
          <a:xfrm>
            <a:off x="457200" y="3063240"/>
            <a:ext cx="8229600" cy="14630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Each area was built on its own branch and merged into main through a pull request, so our history shows real progress over time.</a:t>
            </a:r>
            <a:endParaRPr lang="en-US" sz="1300" dirty="0"/>
          </a:p>
          <a:p>
            <a:pPr marL="342900" indent="-342900">
              <a:lnSpc>
                <a:spcPct val="105000"/>
              </a:lnSpc>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All three of us reviewed each other's work before merging, which is why any of us can explain any part of the system, not only our own piece.</a:t>
            </a:r>
            <a:endParaRPr lang="en-US" sz="1300" dirty="0"/>
          </a:p>
          <a:p>
            <a:pPr marL="342900" indent="-342900">
              <a:lnSpc>
                <a:spcPct val="105000"/>
              </a:lnSpc>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Contribution was equal: 33.3% each.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3208</Words>
  <Application>Microsoft Office PowerPoint</Application>
  <PresentationFormat>On-screen Show (16:9)</PresentationFormat>
  <Paragraphs>144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kyle pillay</cp:lastModifiedBy>
  <cp:revision>4</cp:revision>
  <dcterms:created xsi:type="dcterms:W3CDTF">2026-09-28T18:43:37Z</dcterms:created>
  <dcterms:modified xsi:type="dcterms:W3CDTF">2026-09-28T18:52:14Z</dcterms:modified>
</cp:coreProperties>
</file>